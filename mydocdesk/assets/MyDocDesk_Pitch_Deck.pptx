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3" r:id="rId9"/>
    <p:sldId id="257" r:id="rId3"/>
    <p:sldId id="265" r:id="rId11"/>
    <p:sldId id="274" r:id="rId20"/>
    <p:sldId id="270" r:id="rId16"/>
    <p:sldId id="259" r:id="rId5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MyDocDesk title slide.</a:t>
            </a:r>
          </a:p>
          <a:p>
            <a:r>
              <a:rPr lang="en-US"/>
              <a:t>Sources: https://mydocdesk.com ; product files /workspace/mydocdesk/index.html, app.js. Crest: official MyDocDesk logo (user-supplied attachment).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Meet Sofia, the 24/7 AI medical &amp; dental receptionist.</a:t>
            </a:r>
          </a:p>
          <a:p>
            <a:r>
              <a:rPr lang="en-US"/>
              <a:t>Sources: https://mydocdesk.com ; /workspace/mydocdesk/index.html (How Sofia Works: Cyta/Epic/Cablenet, *67*/*61* forwarding, EL/EN/RU, WhatsApp/SMS), 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Phase 2 vision: the live patient discovery &amp; booking network, and the Founding Clinic advantage (first 20 clinics).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daily clinic bottleneck: call volume, revenue lost per missed call, GeSY admin noise.</a:t>
            </a:r>
          </a:p>
          <a:p>
            <a:r>
              <a:rPr lang="en-US"/>
              <a:t>Figures as approved in the MyDocDesk pitch outline (owner estimates). Sources: https://mydocdesk.com ; /workspace/mydocdesk/index.html, app.js.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3-tier clinical &amp; dental priority triage: P1 urgent same-day (emergency buffer slots), P2 24-48h with photo intake, P3 routine/GeSY async batch queue.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Built for Cyprus specialties: dentistry (featured), pediatrics &amp; GeSY personal doctors, dermatology, cardiology &amp; internal medicine.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Structured pre-visit case notes and dental chair prep, synced to the doctor calendar. Case numbers in the mockup are demo examples.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Closing: ROI comparison (front-desk secretary vs MyDocDesk founding rate), 14-day free pilot, zero-disruption setup, contact.</a:t>
            </a:r>
          </a:p>
          <a:p>
            <a:r>
              <a:rPr lang="en-US"/>
              <a:t>Contact: Christos Taliadoros, christos@t-knights.com, +357 99 429249. Attribution confirmed by Christos: Engineered &amp; Supported by T-Knights Consulting Ltd (Cyprus).</a:t>
            </a:r>
          </a:p>
          <a:p>
            <a:r>
              <a:rPr lang="en-US"/>
              <a:t>Sources: https://mydocdesk.com ; /workspace/mydocdesk/index.html, app.js, leave-behind.html.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9" Type="http://schemas.openxmlformats.org/officeDocument/2006/relationships/image" Target="../media/mydocdesk-crest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40740" y="777240"/>
            <a:ext cx="589788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MyDocDesk: Intelligent Medical &amp; Dental Reception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40740" y="2286000"/>
            <a:ext cx="548640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24/7 AI Voice &amp; WhatsApp Triage • Structured Pre-Visit Case Notes • Smart Schedule Protection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9710" y="3594506"/>
            <a:ext cx="3988613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35678" y="3470148"/>
            <a:ext cx="3931920" cy="277063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Built for Cyprus &amp; Greece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35678" y="3739896"/>
            <a:ext cx="393192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GeSY doctors, private specialists &amp; dental clinics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mydocdesk.com  •  Sister platform to myvacai.com</a:t>
            </a:r>
            <a:endParaRPr lang="en-US" sz="1100" dirty="0"/>
          </a:p>
        </p:txBody>
      </p:sp>
      <p:pic>
        <p:nvPicPr>
          <p:cNvPr id="9" name="MyDocDesk Crest" descr="MyDocDesk crest log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731520"/>
            <a:ext cx="2240280" cy="2240280"/>
          </a:xfrm>
          <a:prstGeom prst="round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7492" y="566928"/>
            <a:ext cx="429768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Meet Sofia — Answers Every Call &amp; WhatsApp in Under 1 Second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7492" y="20116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Normal Phone Calls + WhatsApp + SMS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7492" y="22768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with your existing Cyta, Epic, or Cablenet clinic landline or mobile via simple "Forward When Busy / Unanswered" (*67* / *61*) — no new hardware or number change required.</a:t>
            </a:r>
            <a:endParaRPr lang="en-US" sz="1000" dirty="0"/>
          </a:p>
        </p:txBody>
      </p:sp>
      <p:sp>
        <p:nvSpPr>
          <p:cNvPr id="11" name="Point 2 head"/>
          <p:cNvSpPr/>
          <p:nvPr/>
        </p:nvSpPr>
        <p:spPr>
          <a:xfrm>
            <a:off x="507492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Trilingual Fluency: Greek · English · Russian</a:t>
            </a:r>
            <a:endParaRPr lang="en-US" sz="1250" dirty="0"/>
          </a:p>
        </p:txBody>
      </p:sp>
      <p:sp>
        <p:nvSpPr>
          <p:cNvPr id="12" name="Point 2 body"/>
          <p:cNvSpPr/>
          <p:nvPr/>
        </p:nvSpPr>
        <p:spPr>
          <a:xfrm>
            <a:off x="507492" y="31912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Speaks natural Cypriot/Standard Greek, English, and Russian over normal phone lines and transcribes WhatsApp voice notes automatically.</a:t>
            </a:r>
            <a:endParaRPr lang="en-US" sz="1000" dirty="0"/>
          </a:p>
        </p:txBody>
      </p:sp>
      <p:sp>
        <p:nvSpPr>
          <p:cNvPr id="13" name="Point 3 head"/>
          <p:cNvSpPr/>
          <p:nvPr/>
        </p:nvSpPr>
        <p:spPr>
          <a:xfrm>
            <a:off x="507492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Instant WhatsApp / SMS Handoff</a:t>
            </a:r>
            <a:endParaRPr lang="en-US" sz="1250" dirty="0"/>
          </a:p>
        </p:txBody>
      </p:sp>
      <p:sp>
        <p:nvSpPr>
          <p:cNvPr id="14" name="Point 3 body"/>
          <p:cNvSpPr/>
          <p:nvPr/>
        </p:nvSpPr>
        <p:spPr>
          <a:xfrm>
            <a:off x="507492" y="4105656"/>
            <a:ext cx="429768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the appointment pass and optional photo/lab upload link while still on the call (or a standard SMS for landline/non-WhatsApp patients).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14570" y="562356"/>
            <a:ext cx="3688690" cy="4169664"/>
          </a:xfrm>
          <a:prstGeom prst="roundRect">
            <a:avLst>
              <a:gd name="adj" fmla="val 4834"/>
            </a:avLst>
          </a:prstGeom>
          <a:solidFill>
            <a:srgbClr val="F8FAFC"/>
          </a:solidFill>
          <a:ln/>
        </p:spPr>
      </p:sp>
      <p:sp>
        <p:nvSpPr>
          <p:cNvPr id="15" name="G1 15"/>
          <p:cNvSpPr/>
          <p:nvPr/>
        </p:nvSpPr>
        <p:spPr>
          <a:xfrm>
            <a:off x="5303520" y="777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HOW A CLINIC CALL FLOWS</a:t>
            </a:r>
          </a:p>
        </p:txBody>
      </p:sp>
      <p:sp>
        <p:nvSpPr>
          <p:cNvPr id="16" name="G1 16"/>
          <p:cNvSpPr/>
          <p:nvPr/>
        </p:nvSpPr>
        <p:spPr>
          <a:xfrm>
            <a:off x="5303520" y="1143000"/>
            <a:ext cx="31089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 · Patient calls your normal number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Busy or unanswered → forwarded (*67* / *61*)</a:t>
            </a:r>
          </a:p>
        </p:txBody>
      </p:sp>
      <p:sp>
        <p:nvSpPr>
          <p:cNvPr id="17" name="G1 17"/>
          <p:cNvSpPr/>
          <p:nvPr/>
        </p:nvSpPr>
        <p:spPr>
          <a:xfrm>
            <a:off x="6720840" y="1965960"/>
            <a:ext cx="274320" cy="22860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18" name="G1 18"/>
          <p:cNvSpPr/>
          <p:nvPr/>
        </p:nvSpPr>
        <p:spPr>
          <a:xfrm>
            <a:off x="5303520" y="2240280"/>
            <a:ext cx="3108960" cy="77724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noFill/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2 · Sofia answers in under 1 second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0A192F"/>
                </a:solidFill>
                <a:latin typeface="DM Sans"/>
                <a:ea typeface="DM Sans"/>
                <a:cs typeface="DM Sans"/>
              </a:rPr>
              <a:t>Greek · English · Russian, 24/7</a:t>
            </a:r>
          </a:p>
        </p:txBody>
      </p:sp>
      <p:sp>
        <p:nvSpPr>
          <p:cNvPr id="19" name="G1 19"/>
          <p:cNvSpPr/>
          <p:nvPr/>
        </p:nvSpPr>
        <p:spPr>
          <a:xfrm>
            <a:off x="6720840" y="3063240"/>
            <a:ext cx="274320" cy="22860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txBody>
          <a:bodyPr wrap="square" lIns="109728" tIns="45720" rIns="109728" bIns="45720" anchor="ctr" rtlCol="0">
            <a:noAutofit/>
          </a:bodyPr>
          <a:lstStyle/>
          <a:p>
            <a:endParaRPr lang="en-US"/>
          </a:p>
        </p:txBody>
      </p:sp>
      <p:sp>
        <p:nvSpPr>
          <p:cNvPr id="20" name="G1 20"/>
          <p:cNvSpPr/>
          <p:nvPr/>
        </p:nvSpPr>
        <p:spPr>
          <a:xfrm>
            <a:off x="5303520" y="3337560"/>
            <a:ext cx="3108960" cy="777240"/>
          </a:xfrm>
          <a:prstGeom prst="roundRect">
            <a:avLst>
              <a:gd name="adj" fmla="val 12000"/>
            </a:avLst>
          </a:prstGeom>
          <a:solidFill>
            <a:srgbClr val="0A192F"/>
          </a:solidFill>
          <a:ln>
            <a:noFill/>
          </a:ln>
        </p:spPr>
        <p:txBody>
          <a:bodyPr wrap="square" lIns="164592" tIns="45720" rIns="164592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3 · Pass sent on WhatsApp / SMS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E2E8F0"/>
                </a:solidFill>
                <a:latin typeface="DM Sans"/>
                <a:ea typeface="DM Sans"/>
                <a:cs typeface="DM Sans"/>
              </a:rPr>
              <a:t>Appointment pass + optional photo/lab upload link</a:t>
            </a:r>
          </a:p>
        </p:txBody>
      </p:sp>
      <p:sp>
        <p:nvSpPr>
          <p:cNvPr id="21" name="G1 21"/>
          <p:cNvSpPr/>
          <p:nvPr/>
        </p:nvSpPr>
        <p:spPr>
          <a:xfrm>
            <a:off x="5303520" y="422452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766E"/>
                </a:solidFill>
                <a:latin typeface="DM Sans"/>
                <a:ea typeface="DM Sans"/>
                <a:cs typeface="DM Sans"/>
              </a:rPr>
              <a:t>No new hardware  •  No number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4074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“Come for the Receptionist, Stay for the Patient Network”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407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Your AI Calendar Unlocks Phase 2 Patient Discovery Across Cyprus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0741" y="2194560"/>
            <a:ext cx="3891686" cy="2560320"/>
          </a:xfrm>
          <a:prstGeom prst="roundRect">
            <a:avLst>
              <a:gd name="adj" fmla="val 9702"/>
            </a:avLst>
          </a:prstGeom>
          <a:solidFill>
            <a:srgbClr val="0A192F"/>
          </a:solidFill>
          <a:ln/>
        </p:spPr>
      </p:sp>
      <p:sp>
        <p:nvSpPr>
          <p:cNvPr id="13" name="G1 13"/>
          <p:cNvSpPr/>
          <p:nvPr/>
        </p:nvSpPr>
        <p:spPr>
          <a:xfrm>
            <a:off x="651967" y="2377440"/>
            <a:ext cx="114300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PHASE 2</a:t>
            </a:r>
          </a:p>
        </p:txBody>
      </p:sp>
      <p:sp>
        <p:nvSpPr>
          <p:cNvPr id="8" name="Text 5"/>
          <p:cNvSpPr/>
          <p:nvPr/>
        </p:nvSpPr>
        <p:spPr>
          <a:xfrm>
            <a:off x="651967" y="2697480"/>
            <a:ext cx="352044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Live Cyprus Doctor &amp; Dentist Finder 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1967" y="3246120"/>
            <a:ext cx="352044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 b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clinics use MyDocDesk as their real-time calendar source of truth, patients across Nicosia, Limassol, Larnaca, and Paphos can search by symptom or specialty and book verified open slots directly—with </a:t>
            </a:r>
            <a:r>
              <a:rPr lang="en-US" sz="1050" dirty="0" b="1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double-bookings</a:t>
            </a:r>
            <a:r>
              <a:rPr lang="en-US" sz="1050" dirty="0" b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pre-triaged priority rules still enforced.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35678" y="2194560"/>
            <a:ext cx="3891686" cy="2560320"/>
          </a:xfrm>
          <a:prstGeom prst="roundRect">
            <a:avLst>
              <a:gd name="adj" fmla="val 9702"/>
            </a:avLst>
          </a:prstGeom>
          <a:solidFill>
            <a:srgbClr val="14B8A6"/>
          </a:solidFill>
          <a:ln/>
        </p:spPr>
      </p:sp>
      <p:sp>
        <p:nvSpPr>
          <p:cNvPr id="14" name="G1 14"/>
          <p:cNvSpPr/>
          <p:nvPr/>
        </p:nvSpPr>
        <p:spPr>
          <a:xfrm>
            <a:off x="4946904" y="2377440"/>
            <a:ext cx="1600200" cy="237744"/>
          </a:xfrm>
          <a:prstGeom prst="roundRect">
            <a:avLst>
              <a:gd name="adj" fmla="val 50000"/>
            </a:avLst>
          </a:prstGeom>
          <a:solidFill>
            <a:srgbClr val="0A192F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FOUNDING 20</a:t>
            </a:r>
          </a:p>
        </p:txBody>
      </p:sp>
      <p:sp>
        <p:nvSpPr>
          <p:cNvPr id="11" name="Text 8"/>
          <p:cNvSpPr/>
          <p:nvPr/>
        </p:nvSpPr>
        <p:spPr>
          <a:xfrm>
            <a:off x="4946904" y="2697480"/>
            <a:ext cx="352044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Founding Clinic Network Advantage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46904" y="3246120"/>
            <a:ext cx="3520440" cy="1417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20 Founding Clinics in Cyprus lock in </a:t>
            </a:r>
            <a:r>
              <a:rPr lang="en-US" sz="1050" dirty="0" b="1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permanent priority placement</a:t>
            </a: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specialty search results, automatic cross-referral intake from participating GeSY Personal Doctors, and </a:t>
            </a:r>
            <a:r>
              <a:rPr lang="en-US" sz="1050" dirty="0" b="1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€0 marketplace commission</a:t>
            </a:r>
            <a:r>
              <a:rPr lang="en-US" sz="1050" dirty="0" b="0">
                <a:solidFill>
                  <a:srgbClr val="0A19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patient bookings.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2F">
              <a:alpha val="66000"/>
            </a:srgbClr>
          </a:solidFill>
          <a:ln/>
        </p:spPr>
      </p:sp>
      <p:pic>
        <p:nvPicPr>
          <p:cNvPr id="10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5041" y="685800"/>
            <a:ext cx="8033918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Why Solo &amp; Specialist Clinics Lose Hours and Revenue Every Day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001268" y="2312518"/>
            <a:ext cx="7141464" cy="2418588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1216152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CALLS PER DAY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16152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40–100+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216152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Constant phone &amp; WhatsApp interruptions while the doctor is examining a patient or the dentist is chairside with gloves on.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02736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LOST PER MISSED CALL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02736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€60–€500+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3602736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single missed private consultation, dermatology procedure, crown repair, or implant inquiry goes straight to the next clinic that answers.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989320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GeSY ADMIN NOISE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89320" y="2724912"/>
            <a:ext cx="2103120" cy="56692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30–40%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5989320" y="3310128"/>
            <a:ext cx="2103120" cy="13258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GeSY prescriptions and specialist referral requests clog up the phone line and consume valuable in-person exam slots.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380537" y="2614270"/>
            <a:ext cx="0" cy="1866290"/>
          </a:xfrm>
          <a:prstGeom prst="line">
            <a:avLst/>
          </a:prstGeom>
          <a:noFill/>
          <a:ln w="9525">
            <a:solidFill>
              <a:srgbClr val="0A192F">
                <a:alpha val="82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763463" y="2614270"/>
            <a:ext cx="0" cy="1866290"/>
          </a:xfrm>
          <a:prstGeom prst="line">
            <a:avLst/>
          </a:prstGeom>
          <a:noFill/>
          <a:ln w="9525">
            <a:solidFill>
              <a:srgbClr val="0A192F">
                <a:alpha val="8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5400000">
            <a:off x="4427525" y="427025"/>
            <a:ext cx="5143500" cy="4288536"/>
          </a:xfrm>
          <a:custGeom>
            <a:avLst/>
            <a:gdLst/>
            <a:ahLst/>
            <a:cxnLst/>
            <a:rect l="l" t="t" r="r" b="b"/>
            <a:pathLst>
              <a:path w="5143500" h="4288536">
                <a:moveTo>
                  <a:pt x="0" y="4288536"/>
                </a:moveTo>
                <a:lnTo>
                  <a:pt x="0" y="214884"/>
                </a:lnTo>
                <a:cubicBezTo>
                  <a:pt x="0" y="96204"/>
                  <a:pt x="96204" y="0"/>
                  <a:pt x="214884" y="0"/>
                </a:cubicBezTo>
                <a:lnTo>
                  <a:pt x="4928616" y="0"/>
                </a:lnTo>
                <a:cubicBezTo>
                  <a:pt x="5047296" y="0"/>
                  <a:pt x="5143500" y="96204"/>
                  <a:pt x="5143500" y="214884"/>
                </a:cubicBezTo>
                <a:lnTo>
                  <a:pt x="5143500" y="4288536"/>
                </a:lnTo>
                <a:close/>
              </a:path>
            </a:pathLst>
          </a:custGeom>
          <a:solidFill>
            <a:srgbClr val="0A192F"/>
          </a:solidFill>
          <a:ln/>
        </p:spPr>
      </p:sp>
      <p:pic>
        <p:nvPicPr>
          <p:cNvPr id="3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40740" y="548640"/>
            <a:ext cx="4114800" cy="10515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3-Tier Clinical &amp; Dental Priority Triage (P1 / P2 / P3)</a:t>
            </a:r>
            <a:endParaRPr lang="en-US" sz="2000" dirty="0"/>
          </a:p>
        </p:txBody>
      </p:sp>
      <p:sp>
        <p:nvSpPr>
          <p:cNvPr id="17" name="G1 17"/>
          <p:cNvSpPr/>
          <p:nvPr/>
        </p:nvSpPr>
        <p:spPr>
          <a:xfrm>
            <a:off x="440740" y="1627632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Protects Same-Day Emergency Capacity While Filtering Out Routine Admin</a:t>
            </a:r>
          </a:p>
        </p:txBody>
      </p:sp>
      <p:sp>
        <p:nvSpPr>
          <p:cNvPr id="7" name="Text 4"/>
          <p:cNvSpPr/>
          <p:nvPr/>
        </p:nvSpPr>
        <p:spPr>
          <a:xfrm>
            <a:off x="5760720" y="64008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EF44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1 — Urgent Same-Day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0" y="64008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EF444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760720" y="1024127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pediatric fever (&gt;39°C), acute otalgia, broken front crown, or severe toothache → Sofia screens red flags and unlocks your protected 12:30 PM / 5:00 PM Emergency Buffer Slot.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607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F59E0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2 — Standard 24–48h + Photo Intake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0" y="196596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59E0B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760720" y="2350008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Spreading skin rash, lab review, lost filling, or implant consult → Sofia requests a smartphone photo or PDF on WhatsApp and books the right slot duration (15m / 30m / 45m / 60m).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607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050" dirty="0" b="1">
                <a:solidFill>
                  <a:srgbClr val="22C55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Priority 3 — Routine &amp; GeSY Async Queue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22C55E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760720" y="3675888"/>
            <a:ext cx="32004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GeSY prescriptions, specialist referrals, or dental scaling &amp; hygiene every 6 months → routed to your 5-Minute End-of-Day GeSY Batch Queue or to off-peak hygiene hours, never a prime exam slot.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0741" y="2212848"/>
            <a:ext cx="3848710" cy="2514600"/>
          </a:xfrm>
          <a:prstGeom prst="roundRect">
            <a:avLst>
              <a:gd name="adj" fmla="val 7463"/>
            </a:avLst>
          </a:prstGeom>
          <a:solidFill>
            <a:srgbClr val="F8FAFC"/>
          </a:solidFill>
          <a:ln/>
        </p:spPr>
      </p:sp>
      <p:sp>
        <p:nvSpPr>
          <p:cNvPr id="18" name="G1 18"/>
          <p:cNvSpPr/>
          <p:nvPr/>
        </p:nvSpPr>
        <p:spPr>
          <a:xfrm>
            <a:off x="640080" y="230428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YOUR PROTECTED DAILY SCHEDULE</a:t>
            </a:r>
          </a:p>
        </p:txBody>
      </p:sp>
      <p:sp>
        <p:nvSpPr>
          <p:cNvPr id="19" name="G1 19"/>
          <p:cNvSpPr/>
          <p:nvPr/>
        </p:nvSpPr>
        <p:spPr>
          <a:xfrm>
            <a:off x="640080" y="265176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0" name="G1 20"/>
          <p:cNvSpPr/>
          <p:nvPr/>
        </p:nvSpPr>
        <p:spPr>
          <a:xfrm>
            <a:off x="713232" y="265176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12:30 PM</a:t>
            </a:r>
          </a:p>
        </p:txBody>
      </p:sp>
      <p:sp>
        <p:nvSpPr>
          <p:cNvPr id="21" name="G1 21"/>
          <p:cNvSpPr/>
          <p:nvPr/>
        </p:nvSpPr>
        <p:spPr>
          <a:xfrm>
            <a:off x="1691640" y="265176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Emergency buffer (P1 only)</a:t>
            </a:r>
          </a:p>
        </p:txBody>
      </p:sp>
      <p:sp>
        <p:nvSpPr>
          <p:cNvPr id="22" name="G1 22"/>
          <p:cNvSpPr/>
          <p:nvPr/>
        </p:nvSpPr>
        <p:spPr>
          <a:xfrm>
            <a:off x="640080" y="315468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3" name="G1 23"/>
          <p:cNvSpPr/>
          <p:nvPr/>
        </p:nvSpPr>
        <p:spPr>
          <a:xfrm>
            <a:off x="713232" y="315468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5:00 PM</a:t>
            </a:r>
          </a:p>
        </p:txBody>
      </p:sp>
      <p:sp>
        <p:nvSpPr>
          <p:cNvPr id="24" name="G1 24"/>
          <p:cNvSpPr/>
          <p:nvPr/>
        </p:nvSpPr>
        <p:spPr>
          <a:xfrm>
            <a:off x="1691640" y="315468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Emergency buffer (P1 only)</a:t>
            </a:r>
          </a:p>
        </p:txBody>
      </p:sp>
      <p:sp>
        <p:nvSpPr>
          <p:cNvPr id="25" name="G1 25"/>
          <p:cNvSpPr/>
          <p:nvPr/>
        </p:nvSpPr>
        <p:spPr>
          <a:xfrm>
            <a:off x="640080" y="365760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6" name="G1 26"/>
          <p:cNvSpPr/>
          <p:nvPr/>
        </p:nvSpPr>
        <p:spPr>
          <a:xfrm>
            <a:off x="713232" y="365760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End of day</a:t>
            </a:r>
          </a:p>
        </p:txBody>
      </p:sp>
      <p:sp>
        <p:nvSpPr>
          <p:cNvPr id="27" name="G1 27"/>
          <p:cNvSpPr/>
          <p:nvPr/>
        </p:nvSpPr>
        <p:spPr>
          <a:xfrm>
            <a:off x="1691640" y="365760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5-minute GeSY batch queue (P3)</a:t>
            </a:r>
          </a:p>
        </p:txBody>
      </p:sp>
      <p:sp>
        <p:nvSpPr>
          <p:cNvPr id="28" name="G1 28"/>
          <p:cNvSpPr/>
          <p:nvPr/>
        </p:nvSpPr>
        <p:spPr>
          <a:xfrm>
            <a:off x="640080" y="4160520"/>
            <a:ext cx="3474720" cy="420624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lIns="91440" tIns="45720" rIns="91440" bIns="45720" anchor="ctr" rtlCol="0">
            <a:noAutofit/>
          </a:bodyPr>
          <a:lstStyle/>
          <a:p>
            <a:endParaRPr lang="en-US"/>
          </a:p>
        </p:txBody>
      </p:sp>
      <p:sp>
        <p:nvSpPr>
          <p:cNvPr id="29" name="G1 29"/>
          <p:cNvSpPr/>
          <p:nvPr/>
        </p:nvSpPr>
        <p:spPr>
          <a:xfrm>
            <a:off x="713232" y="4160520"/>
            <a:ext cx="96012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Off-peak</a:t>
            </a:r>
          </a:p>
        </p:txBody>
      </p:sp>
      <p:sp>
        <p:nvSpPr>
          <p:cNvPr id="30" name="G1 30"/>
          <p:cNvSpPr/>
          <p:nvPr/>
        </p:nvSpPr>
        <p:spPr>
          <a:xfrm>
            <a:off x="1691640" y="4160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Hygiene &amp; scaling hours (P3)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-1069848" y="1057961"/>
            <a:ext cx="5155387" cy="3015691"/>
          </a:xfrm>
          <a:custGeom>
            <a:avLst/>
            <a:gdLst/>
            <a:ahLst/>
            <a:cxnLst/>
            <a:rect l="l" t="t" r="r" b="b"/>
            <a:pathLst>
              <a:path w="5155387" h="3015691">
                <a:moveTo>
                  <a:pt x="0" y="3015691"/>
                </a:moveTo>
                <a:lnTo>
                  <a:pt x="0" y="238658"/>
                </a:lnTo>
                <a:cubicBezTo>
                  <a:pt x="0" y="106847"/>
                  <a:pt x="106847" y="0"/>
                  <a:pt x="238658" y="0"/>
                </a:cubicBezTo>
                <a:lnTo>
                  <a:pt x="4916729" y="0"/>
                </a:lnTo>
                <a:cubicBezTo>
                  <a:pt x="5048540" y="0"/>
                  <a:pt x="5155387" y="106847"/>
                  <a:pt x="5155387" y="238658"/>
                </a:cubicBezTo>
                <a:lnTo>
                  <a:pt x="5155387" y="3015691"/>
                </a:lnTo>
                <a:close/>
              </a:path>
            </a:pathLst>
          </a:custGeom>
          <a:solidFill>
            <a:srgbClr val="0A192F"/>
          </a:solidFill>
          <a:ln/>
        </p:spPr>
      </p:sp>
      <p:pic>
        <p:nvPicPr>
          <p:cNvPr id="3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38328" y="566928"/>
            <a:ext cx="2697480" cy="11430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Tailored Triage Rules Across Medical &amp; Dental Specialties</a:t>
            </a:r>
            <a:endParaRPr lang="en-US" sz="1800" dirty="0"/>
          </a:p>
        </p:txBody>
      </p:sp>
      <p:sp>
        <p:nvSpPr>
          <p:cNvPr id="54" name="G1 54"/>
          <p:cNvSpPr/>
          <p:nvPr/>
        </p:nvSpPr>
        <p:spPr>
          <a:xfrm>
            <a:off x="411480" y="1874519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 wrap="square" lIns="45720" tIns="45720" rIns="4572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FEATURED</a:t>
            </a:r>
          </a:p>
        </p:txBody>
      </p:sp>
      <p:sp>
        <p:nvSpPr>
          <p:cNvPr id="14" name="Text 11"/>
          <p:cNvSpPr/>
          <p:nvPr/>
        </p:nvSpPr>
        <p:spPr>
          <a:xfrm>
            <a:off x="338328" y="2212848"/>
            <a:ext cx="2697480" cy="34747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Dentistry &amp; Implantology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8328" y="2560320"/>
            <a:ext cx="269748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General, Cosmetic &amp; Implant Dentistry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8328" y="2880360"/>
            <a:ext cx="2697480" cy="19202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Hands-free answering while chairside with gloves on; 30m emergency toothache/crown buffer slots, WhatsApp tooth photo intake, and variable 30m/45m/60m block booking.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83280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24" name="Text 21"/>
          <p:cNvSpPr/>
          <p:nvPr/>
        </p:nvSpPr>
        <p:spPr>
          <a:xfrm>
            <a:off x="3456432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Pediatrics &amp; GeSY Personal Doctors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456432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Care &amp; Pediatric Clinics</a:t>
            </a:r>
            <a:endParaRPr lang="en-US" sz="1000" dirty="0"/>
          </a:p>
        </p:txBody>
      </p:sp>
      <p:sp>
        <p:nvSpPr>
          <p:cNvPr id="55" name="G1 55"/>
          <p:cNvSpPr/>
          <p:nvPr/>
        </p:nvSpPr>
        <p:spPr>
          <a:xfrm>
            <a:off x="3456432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Fever &amp; red-flag triage, working-parent WhatsApp handoff, and automatic deflection of daily GeSY repeat prescriptions &amp; referrals.</a:t>
            </a:r>
          </a:p>
        </p:txBody>
      </p:sp>
      <p:sp>
        <p:nvSpPr>
          <p:cNvPr id="31" name="Shape 28"/>
          <p:cNvSpPr/>
          <p:nvPr/>
        </p:nvSpPr>
        <p:spPr>
          <a:xfrm>
            <a:off x="5230368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38" name="Text 35"/>
          <p:cNvSpPr/>
          <p:nvPr/>
        </p:nvSpPr>
        <p:spPr>
          <a:xfrm>
            <a:off x="5303520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Dermatology &amp; Aesthetic Clinics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303520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&amp; Cosmetic Dermatology</a:t>
            </a:r>
            <a:endParaRPr lang="en-US" sz="1000" dirty="0"/>
          </a:p>
        </p:txBody>
      </p:sp>
      <p:sp>
        <p:nvSpPr>
          <p:cNvPr id="56" name="G1 56"/>
          <p:cNvSpPr/>
          <p:nvPr/>
        </p:nvSpPr>
        <p:spPr>
          <a:xfrm>
            <a:off x="5303520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High-resolution WhatsApp photo intake before the visit, so urgent rashes are seen fast and cosmetic/laser slots stay organized.</a:t>
            </a:r>
          </a:p>
        </p:txBody>
      </p:sp>
      <p:sp>
        <p:nvSpPr>
          <p:cNvPr id="45" name="Shape 42"/>
          <p:cNvSpPr/>
          <p:nvPr/>
        </p:nvSpPr>
        <p:spPr>
          <a:xfrm>
            <a:off x="7077456" y="1005840"/>
            <a:ext cx="1700784" cy="3429000"/>
          </a:xfrm>
          <a:prstGeom prst="roundRect">
            <a:avLst>
              <a:gd name="adj" fmla="val 11104"/>
            </a:avLst>
          </a:prstGeom>
          <a:solidFill>
            <a:srgbClr val="F8FAFC"/>
          </a:solidFill>
          <a:ln/>
        </p:spPr>
      </p:sp>
      <p:sp>
        <p:nvSpPr>
          <p:cNvPr id="52" name="Text 49"/>
          <p:cNvSpPr/>
          <p:nvPr/>
        </p:nvSpPr>
        <p:spPr>
          <a:xfrm>
            <a:off x="7150608" y="1170432"/>
            <a:ext cx="155448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buNone/>
            </a:pPr>
            <a:r>
              <a:rPr lang="en-US" sz="130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Cardiology &amp; Internal Medicine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7150608" y="1901952"/>
            <a:ext cx="1554480" cy="4572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Cardiology &amp; Internal Medicine</a:t>
            </a:r>
            <a:endParaRPr lang="en-US" sz="1000" dirty="0"/>
          </a:p>
        </p:txBody>
      </p:sp>
      <p:sp>
        <p:nvSpPr>
          <p:cNvPr id="57" name="G1 57"/>
          <p:cNvSpPr/>
          <p:nvPr/>
        </p:nvSpPr>
        <p:spPr>
          <a:xfrm>
            <a:off x="7150608" y="2423160"/>
            <a:ext cx="1554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64008" tIns="45720" rIns="6400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Pre-visit BP/ECG log collection and structured chronic GeSY medication renewal batching.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149133" y="192024"/>
            <a:ext cx="706831" cy="207569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Page 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40740" y="548640"/>
            <a:ext cx="4572000" cy="8686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Every Calendar Event Arrives With a 3-Bullet Case Note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 rot="-540000">
            <a:off x="5095037" y="1831543"/>
            <a:ext cx="3364992" cy="5047488"/>
          </a:xfrm>
          <a:prstGeom prst="roundRect">
            <a:avLst>
              <a:gd name="adj" fmla="val 5326"/>
            </a:avLst>
          </a:prstGeom>
          <a:solidFill>
            <a:srgbClr val="F8FAFC"/>
          </a:solidFill>
          <a:ln/>
        </p:spPr>
      </p:sp>
      <p:sp>
        <p:nvSpPr>
          <p:cNvPr id="23" name="G1 23"/>
          <p:cNvSpPr/>
          <p:nvPr/>
        </p:nvSpPr>
        <p:spPr>
          <a:xfrm rot="-540000">
            <a:off x="5050703" y="1966197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45720" rIns="18288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Lexend"/>
                <a:ea typeface="Lexend"/>
                <a:cs typeface="Lexend"/>
              </a:rPr>
              <a:t>TODAY  •  Google / Apple / Outlook</a:t>
            </a:r>
          </a:p>
        </p:txBody>
      </p:sp>
      <p:sp>
        <p:nvSpPr>
          <p:cNvPr id="24" name="G1 24"/>
          <p:cNvSpPr/>
          <p:nvPr/>
        </p:nvSpPr>
        <p:spPr>
          <a:xfrm rot="-540000">
            <a:off x="5185164" y="2312230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10:30  Case #MD-409  •  P1 Same-day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Chief complaint &amp; duration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Medication / sensitivity history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Red-flag screen done (112 / A&amp;E)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91C1C"/>
                </a:solidFill>
                <a:latin typeface="DM Sans"/>
                <a:ea typeface="DM Sans"/>
                <a:cs typeface="DM Sans"/>
              </a:rPr>
              <a:t>Photo attached: thermometer reading</a:t>
            </a:r>
          </a:p>
        </p:txBody>
      </p:sp>
      <p:sp>
        <p:nvSpPr>
          <p:cNvPr id="25" name="G1 25"/>
          <p:cNvSpPr/>
          <p:nvPr/>
        </p:nvSpPr>
        <p:spPr>
          <a:xfrm rot="-540000">
            <a:off x="5394008" y="3731402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9525">
            <a:solidFill>
              <a:srgbClr val="14B8A6"/>
            </a:solidFill>
          </a:ln>
        </p:spPr>
        <p:txBody>
          <a:bodyPr wrap="square" lIns="109728" tIns="45720" rIns="109728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16:00  Case #MD-415  •  Dental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WhatsApp photo: fractured tooth #14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Nurse: chairside tray prep notes</a:t>
            </a:r>
          </a:p>
          <a:p>
            <a:pPr algn="l">
              <a:lnSpc>
                <a:spcPct val="110000"/>
              </a:lnSpc>
              <a:buNone/>
            </a:pPr>
            <a:r>
              <a:rPr lang="en-US" sz="900" b="0" dirty="0">
                <a:solidFill>
                  <a:srgbClr val="3F3F3F"/>
                </a:solidFill>
                <a:latin typeface="DM Sans"/>
                <a:ea typeface="DM Sans"/>
                <a:cs typeface="DM Sans"/>
              </a:rPr>
              <a:t>• Thermal sensitivity history</a:t>
            </a:r>
          </a:p>
        </p:txBody>
      </p:sp>
      <p:sp>
        <p:nvSpPr>
          <p:cNvPr id="13" name="Shape 10"/>
          <p:cNvSpPr/>
          <p:nvPr/>
        </p:nvSpPr>
        <p:spPr>
          <a:xfrm rot="-552000">
            <a:off x="5067605" y="1790395"/>
            <a:ext cx="3414370" cy="5106924"/>
          </a:xfrm>
          <a:prstGeom prst="roundRect">
            <a:avLst>
              <a:gd name="adj" fmla="val 7820"/>
            </a:avLst>
          </a:prstGeom>
          <a:noFill/>
          <a:ln w="12954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0740" y="1600200"/>
            <a:ext cx="41605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Synced to Google, Apple &amp; Outlook Calendar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40740" y="1874519"/>
            <a:ext cx="4114800" cy="7772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the patient walks into the exam room or sits in the dental chair, the doctor sees a color-coded calendar card (Case #MD-409 / #MD-415).</a:t>
            </a:r>
            <a:endParaRPr lang="en-US" sz="1000" dirty="0"/>
          </a:p>
        </p:txBody>
      </p:sp>
      <p:sp>
        <p:nvSpPr>
          <p:cNvPr id="19" name="Point 2 head"/>
          <p:cNvSpPr/>
          <p:nvPr/>
        </p:nvSpPr>
        <p:spPr>
          <a:xfrm>
            <a:off x="440740" y="2651760"/>
            <a:ext cx="41605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3-Bullet Clinical &amp; Dental Summary</a:t>
            </a:r>
            <a:endParaRPr lang="en-US" sz="1250" dirty="0"/>
          </a:p>
        </p:txBody>
      </p:sp>
      <p:sp>
        <p:nvSpPr>
          <p:cNvPr id="20" name="Point 2 body"/>
          <p:cNvSpPr/>
          <p:nvPr/>
        </p:nvSpPr>
        <p:spPr>
          <a:xfrm>
            <a:off x="440740" y="2926079"/>
            <a:ext cx="4114800" cy="7772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Chief complaint &amp; duration, medication/thermal sensitivity history, and a completed red-flag safety screen (112 / A&amp;E auto-deflection for chest pain or breathing distress).</a:t>
            </a:r>
            <a:endParaRPr lang="en-US" sz="1000" dirty="0"/>
          </a:p>
        </p:txBody>
      </p:sp>
      <p:sp>
        <p:nvSpPr>
          <p:cNvPr id="21" name="Point 3 head"/>
          <p:cNvSpPr/>
          <p:nvPr/>
        </p:nvSpPr>
        <p:spPr>
          <a:xfrm>
            <a:off x="440740" y="3703320"/>
            <a:ext cx="4160520" cy="274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1250" dirty="0" b="1">
                <a:solidFill>
                  <a:srgbClr val="0A192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Pre-Attached Photos &amp; Nurse Tray Prep</a:t>
            </a:r>
            <a:endParaRPr lang="en-US" sz="1250" dirty="0"/>
          </a:p>
        </p:txBody>
      </p:sp>
      <p:sp>
        <p:nvSpPr>
          <p:cNvPr id="22" name="Point 3 body"/>
          <p:cNvSpPr/>
          <p:nvPr/>
        </p:nvSpPr>
        <p:spPr>
          <a:xfrm>
            <a:off x="440740" y="3977639"/>
            <a:ext cx="4114800" cy="7772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Patient-uploaded WhatsApp photos (skin rash, thermometer, fractured tooth #14) are linked directly to the event, along with chairside tray prep instructions for the nurse.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mydocdesk/assets/icon-schedule-gold-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3" y="179222"/>
            <a:ext cx="246888" cy="246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278" y="191110"/>
            <a:ext cx="1280160" cy="2286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80974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 Your 14-Day Free Clinic Pilot in 5 Minutes</a:t>
            </a:r>
            <a:endParaRPr lang="en-US" sz="2600" dirty="0"/>
          </a:p>
        </p:txBody>
      </p:sp>
      <p:sp>
        <p:nvSpPr>
          <p:cNvPr id="20" name="G1 20"/>
          <p:cNvSpPr/>
          <p:nvPr/>
        </p:nvSpPr>
        <p:spPr>
          <a:xfrm>
            <a:off x="480974" y="132588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164592" tIns="45720" rIns="164592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Lexend"/>
                <a:ea typeface="Lexend"/>
                <a:cs typeface="Lexend"/>
              </a:rPr>
              <a:t>FULL-TIME FRONT-DESK SECRETARY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€1,400+ / month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000" b="0" dirty="0">
                <a:solidFill>
                  <a:srgbClr val="CBD5E1"/>
                </a:solidFill>
                <a:latin typeface="DM Sans"/>
                <a:ea typeface="DM Sans"/>
                <a:cs typeface="DM Sans"/>
              </a:rPr>
              <a:t>8 hours/day, 1 call at a time, holidays &amp; sick leave.</a:t>
            </a:r>
          </a:p>
        </p:txBody>
      </p:sp>
      <p:sp>
        <p:nvSpPr>
          <p:cNvPr id="21" name="G1 21"/>
          <p:cNvSpPr/>
          <p:nvPr/>
        </p:nvSpPr>
        <p:spPr>
          <a:xfrm>
            <a:off x="4142232" y="19019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45720" rIns="0" bIns="45720" anchor="ctr" rtlCol="0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vs</a:t>
            </a:r>
          </a:p>
        </p:txBody>
      </p:sp>
      <p:sp>
        <p:nvSpPr>
          <p:cNvPr id="22" name="G1 22"/>
          <p:cNvSpPr/>
          <p:nvPr/>
        </p:nvSpPr>
        <p:spPr>
          <a:xfrm>
            <a:off x="4636008" y="1325880"/>
            <a:ext cx="4069080" cy="16002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txBody>
          <a:bodyPr wrap="square" lIns="164592" tIns="45720" rIns="164592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MYDOCDESK FOUNDING DOCTOR RATE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0A192F"/>
                </a:solidFill>
                <a:latin typeface="Lexend"/>
                <a:ea typeface="Lexend"/>
                <a:cs typeface="Lexend"/>
              </a:rPr>
              <a:t>€99 / month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1000" b="0" dirty="0">
                <a:solidFill>
                  <a:srgbClr val="0A192F"/>
                </a:solidFill>
                <a:latin typeface="DM Sans"/>
                <a:ea typeface="DM Sans"/>
                <a:cs typeface="DM Sans"/>
              </a:rPr>
              <a:t>Locked in for the first 20 clinics (Standard: €149/month) — 24/7 coverage, unlimited simultaneous calls &amp; WhatsApp triage, 14-Day Free Pilot.</a:t>
            </a:r>
          </a:p>
        </p:txBody>
      </p:sp>
      <p:sp>
        <p:nvSpPr>
          <p:cNvPr id="23" name="G1 23"/>
          <p:cNvSpPr/>
          <p:nvPr/>
        </p:nvSpPr>
        <p:spPr>
          <a:xfrm>
            <a:off x="480974" y="3017520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t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050" b="0" dirty="0">
                <a:solidFill>
                  <a:srgbClr val="E2E8F0"/>
                </a:solidFill>
                <a:latin typeface="DM Sans"/>
                <a:ea typeface="DM Sans"/>
                <a:cs typeface="DM Sans"/>
              </a:rPr>
              <a:t>Zero-Disruption Setup: keep your existing Cyta/Epic/Cablenet clinic number (activate *67* / *61* forwarding on busy/unanswered) and sync with your existing Google, Apple, or Outlook Calendar in 5 minutes.</a:t>
            </a:r>
          </a:p>
        </p:txBody>
      </p:sp>
      <p:sp>
        <p:nvSpPr>
          <p:cNvPr id="5" name="Shape 2"/>
          <p:cNvSpPr/>
          <p:nvPr/>
        </p:nvSpPr>
        <p:spPr>
          <a:xfrm>
            <a:off x="480974" y="3668573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6" name="Shape 3"/>
          <p:cNvSpPr/>
          <p:nvPr/>
        </p:nvSpPr>
        <p:spPr>
          <a:xfrm rot="8100000">
            <a:off x="594817" y="3749954"/>
            <a:ext cx="138989" cy="138989"/>
          </a:xfrm>
          <a:prstGeom prst="teardrop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5051" y="3771900"/>
            <a:ext cx="58522" cy="5852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9478" y="3649370"/>
            <a:ext cx="1828800" cy="4114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mydocdesk.com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Live interactive demo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8278" y="3672230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10" name="Shape 7"/>
          <p:cNvSpPr/>
          <p:nvPr/>
        </p:nvSpPr>
        <p:spPr>
          <a:xfrm>
            <a:off x="2774747" y="3581705"/>
            <a:ext cx="347472" cy="365760"/>
          </a:xfrm>
          <a:prstGeom prst="blockArc">
            <a:avLst>
              <a:gd name="adj1" fmla="val 5400000"/>
              <a:gd name="adj2" fmla="val 10800000"/>
              <a:gd name="adj3" fmla="val 17000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rot="-1200000">
            <a:off x="2763774" y="3748126"/>
            <a:ext cx="56693" cy="73152"/>
          </a:xfrm>
          <a:prstGeom prst="roundRect">
            <a:avLst>
              <a:gd name="adj" fmla="val 35484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rot="-1200000">
            <a:off x="2900934" y="3885286"/>
            <a:ext cx="73152" cy="56693"/>
          </a:xfrm>
          <a:prstGeom prst="roundRect">
            <a:avLst>
              <a:gd name="adj" fmla="val 35484"/>
            </a:avLst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81528" y="3724351"/>
            <a:ext cx="1188720" cy="233172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+357 99 429249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00423" y="3672230"/>
            <a:ext cx="366674" cy="367589"/>
          </a:xfrm>
          <a:prstGeom prst="roundRect">
            <a:avLst>
              <a:gd name="adj" fmla="val 16708"/>
            </a:avLst>
          </a:prstGeom>
          <a:solidFill>
            <a:srgbClr val="14B8A6"/>
          </a:solidFill>
          <a:ln/>
        </p:spPr>
      </p:sp>
      <p:sp>
        <p:nvSpPr>
          <p:cNvPr id="15" name="Shape 12"/>
          <p:cNvSpPr/>
          <p:nvPr/>
        </p:nvSpPr>
        <p:spPr>
          <a:xfrm>
            <a:off x="4392320" y="3792017"/>
            <a:ext cx="18288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92320" y="3792017"/>
            <a:ext cx="182880" cy="128016"/>
          </a:xfrm>
          <a:custGeom>
            <a:avLst/>
            <a:gdLst/>
            <a:ahLst/>
            <a:cxnLst/>
            <a:rect l="l" t="t" r="r" b="b"/>
            <a:pathLst>
              <a:path w="182880" h="128016">
                <a:moveTo>
                  <a:pt x="0" y="0"/>
                </a:moveTo>
                <a:lnTo>
                  <a:pt x="91440" y="71323"/>
                </a:lnTo>
                <a:lnTo>
                  <a:pt x="182880" y="0"/>
                </a:lnTo>
              </a:path>
            </a:pathLst>
          </a:custGeom>
          <a:solidFill>
            <a:srgbClr val="14B8A6"/>
          </a:solidFill>
          <a:ln w="12700">
            <a:solidFill>
              <a:srgbClr val="0A192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48479" y="3720694"/>
            <a:ext cx="1828800" cy="23865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christos@t-knights.com</a:t>
            </a:r>
            <a:endParaRPr lang="en-US" sz="1050" dirty="0"/>
          </a:p>
        </p:txBody>
      </p:sp>
      <p:sp>
        <p:nvSpPr>
          <p:cNvPr id="24" name="G1 24"/>
          <p:cNvSpPr/>
          <p:nvPr/>
        </p:nvSpPr>
        <p:spPr>
          <a:xfrm>
            <a:off x="6629400" y="369417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anchor="ctr" rtlCol="0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Lexend"/>
                <a:ea typeface="Lexend"/>
                <a:cs typeface="Lexend"/>
              </a:rPr>
              <a:t>Christos Taliadoros</a:t>
            </a:r>
          </a:p>
        </p:txBody>
      </p:sp>
      <p:sp>
        <p:nvSpPr>
          <p:cNvPr id="18" name="Shape 15"/>
          <p:cNvSpPr/>
          <p:nvPr/>
        </p:nvSpPr>
        <p:spPr>
          <a:xfrm>
            <a:off x="480974" y="4279392"/>
            <a:ext cx="822045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974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 b="1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Engineered &amp; Supported by T-Knights Consulting Ltd (Cyprus)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Lexend</vt:lpstr>
      <vt:lpstr>DM Sans</vt:lpstr>
      <vt:lpstr>Office Theme</vt:lpstr>
      <vt:lpstr>MyDocDesk: Intelligent Medical &amp; Dental Reception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MyDocDesk - Intelligent Medical Reception</dc:title>
  <dc:subject>PptxGenJS Presentation</dc:subject>
  <dc:creator>Christos Taliadoros</dc:creator>
  <cp:lastModifiedBy>Christos Taliadoros</cp:lastModifiedBy>
  <cp:revision>1</cp:revision>
  <dcterms:created xsi:type="dcterms:W3CDTF">2026-10-26T17:32:55Z</dcterms:created>
  <dcterms:modified xsi:type="dcterms:W3CDTF">2026-10-26T17:32:55Z</dcterms:modified>
</cp:coreProperties>
</file>